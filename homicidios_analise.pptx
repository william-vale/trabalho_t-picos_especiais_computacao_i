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Taxa Média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El Salvador</c:v>
                  </c:pt>
                  <c:pt idx="1">
                    <c:v>Jamaica</c:v>
                  </c:pt>
                  <c:pt idx="2">
                    <c:v>Honduras</c:v>
                  </c:pt>
                  <c:pt idx="3">
                    <c:v>Venezuela</c:v>
                  </c:pt>
                  <c:pt idx="4">
                    <c:v>St. Kitts</c:v>
                  </c:pt>
                  <c:pt idx="5">
                    <c:v>Trinidad</c:v>
                  </c:pt>
                  <c:pt idx="6">
                    <c:v>South Africa</c:v>
                  </c:pt>
                  <c:pt idx="7">
                    <c:v>Brazil</c:v>
                  </c:pt>
                  <c:pt idx="8">
                    <c:v>Mexico</c:v>
                  </c:pt>
                  <c:pt idx="9">
                    <c:v>Colombia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52</c:v>
                </c:pt>
                <c:pt idx="1">
                  <c:v>46.5</c:v>
                </c:pt>
                <c:pt idx="2">
                  <c:v>38.6</c:v>
                </c:pt>
                <c:pt idx="3">
                  <c:v>36.7</c:v>
                </c:pt>
                <c:pt idx="4">
                  <c:v>33.8</c:v>
                </c:pt>
                <c:pt idx="5">
                  <c:v>30.1</c:v>
                </c:pt>
                <c:pt idx="6">
                  <c:v>29.5</c:v>
                </c:pt>
                <c:pt idx="7">
                  <c:v>27.4</c:v>
                </c:pt>
                <c:pt idx="8">
                  <c:v>25.8</c:v>
                </c:pt>
                <c:pt idx="9">
                  <c:v>24.2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Homicídios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D9488"/>
              </a:solidFill>
              <a:effectLst/>
            </c:spPr>
          </c:dPt>
          <c:dPt>
            <c:idx val="1"/>
            <c:bubble3D val="0"/>
            <c:spPr>
              <a:solidFill>
                <a:srgbClr val="1B3358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64748B"/>
              </a:solidFill>
              <a:effectLst/>
            </c:spPr>
          </c:dPt>
          <c:dPt>
            <c:idx val="4"/>
            <c:bubble3D val="0"/>
            <c:spPr>
              <a:solidFill>
                <a:srgbClr val="CBD5E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Americas</c:v>
                </c:pt>
                <c:pt idx="1">
                  <c:v>Africa</c:v>
                </c:pt>
                <c:pt idx="2">
                  <c:v>Asia</c:v>
                </c:pt>
                <c:pt idx="3">
                  <c:v>Europe</c:v>
                </c:pt>
                <c:pt idx="4">
                  <c:v>Oceania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42</c:v>
                </c:pt>
                <c:pt idx="1">
                  <c:v>28</c:v>
                </c:pt>
                <c:pt idx="2">
                  <c:v>20</c:v>
                </c:pt>
                <c:pt idx="3">
                  <c:v>8</c:v>
                </c:pt>
                <c:pt idx="4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solidFill>
            <a:srgbClr val="0F2A40"/>
          </a:solidFill>
          <a:ln w="12700">
            <a:solidFill>
              <a:srgbClr val="0F2A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5280" y="-274320"/>
            <a:ext cx="1645920" cy="1645920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</a:rPr>
              <a:t>ANÁLISE EXPLORATÓRIA E REGRESSÃO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Homicídios Globais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EEAD4"/>
                </a:solidFill>
              </a:rPr>
              <a:t>Uma Análise com Dados da ONU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41148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Fonte: UNODC — United Nations Office on Drugs and Crime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4663440"/>
            <a:ext cx="914400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466344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FFFFFF"/>
                </a:solidFill>
              </a:rPr>
              <a:t>Python  •  pandas  •  numpy  •  Dados Abertos ONU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358"/>
                </a:solidFill>
              </a:rPr>
              <a:t>De onde vêm os dados?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5720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25880"/>
            <a:ext cx="4572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630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358"/>
                </a:solidFill>
              </a:rPr>
              <a:t>UNODC — Crime and Criminal Justice Statistics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4206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O que é: </a:t>
            </a:r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Base de dados oficial da Organização das Nações Unidas sobre homicídios intencionais em todo o mundo.
</a:t>
            </a:r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O que registra: </a:t>
            </a:r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Quantidade de vítimas e taxa por 100 mil habitantes, separadas por país, região, sexo, faixa etária e ano.
</a:t>
            </a:r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</a:rPr>
              <a:t>Por que usar: </a:t>
            </a:r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</a:rPr>
              <a:t>É a fonte mais completa e padronizada de dados criminais globais, cobrindo mais de 190 países.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325880"/>
            <a:ext cx="3566160" cy="868680"/>
          </a:xfrm>
          <a:prstGeom prst="rect">
            <a:avLst/>
          </a:prstGeom>
          <a:solidFill>
            <a:srgbClr val="1B3358"/>
          </a:solidFill>
          <a:ln w="12700">
            <a:solidFill>
              <a:srgbClr val="1B33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325880"/>
            <a:ext cx="64008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9496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</a:rPr>
              <a:t>190+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9496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Países cobertos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12080" y="2286000"/>
            <a:ext cx="3566160" cy="868680"/>
          </a:xfrm>
          <a:prstGeom prst="rect">
            <a:avLst/>
          </a:prstGeom>
          <a:solidFill>
            <a:srgbClr val="1B3358"/>
          </a:solidFill>
          <a:ln w="12700">
            <a:solidFill>
              <a:srgbClr val="1B33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12080" y="2286000"/>
            <a:ext cx="64008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</a:rPr>
              <a:t>Decades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394960" y="2743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Série histórica de dados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12080" y="3246120"/>
            <a:ext cx="3566160" cy="868680"/>
          </a:xfrm>
          <a:prstGeom prst="rect">
            <a:avLst/>
          </a:prstGeom>
          <a:solidFill>
            <a:srgbClr val="1B3358"/>
          </a:solidFill>
          <a:ln w="12700">
            <a:solidFill>
              <a:srgbClr val="1B33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0" y="3246120"/>
            <a:ext cx="64008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94960" y="3337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</a:rPr>
              <a:t>2 tabelas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394960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Países e Estimativas Regionais ONU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PRÉ-PROCESSAMENTO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358"/>
                </a:solidFill>
              </a:rPr>
              <a:t>Limpeza e Tratamento dos Dados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4114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80160"/>
            <a:ext cx="54864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358"/>
                </a:solidFill>
              </a:rPr>
              <a:t>①  Padronização da Coluna Age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17373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Removidos espaços extras e substituído '60 and older' por '60+' para uniformizar os rótulos de faixa etária.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4114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280160"/>
            <a:ext cx="54864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358"/>
                </a:solidFill>
              </a:rPr>
              <a:t>②  Correção dos Valores Numéricos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7373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A coluna VALUE continha vírgulas como separador decimal (ex: '1,5'). Convertida para ponto e depois para tipo numérico com pd.to_numeric().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4114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880360"/>
            <a:ext cx="54864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971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358"/>
                </a:solidFill>
              </a:rPr>
              <a:t>③  Separação em Dois Datasets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0352" y="33375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df_paises: dados por país (análise própria). df_onu: estimativas regionais da ONU. Cada análise usa a base correta.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54880" y="2880360"/>
            <a:ext cx="41148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880360"/>
            <a:ext cx="54864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2971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358"/>
                </a:solidFill>
              </a:rPr>
              <a:t>④  Preservação do Dataset Original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19472" y="33375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Trabalhamos em uma cópia (df_tratado = df_unodc.copy()) para manter o histórico original intacto.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PERGUNTA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358"/>
                </a:solidFill>
              </a:rPr>
              <a:t>Top 10 Países com Maiores Taxas de Homicídio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Média da taxa por 100 mil habitantes — período 2018 a 2022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46304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852160" y="1463040"/>
            <a:ext cx="2926080" cy="1005840"/>
          </a:xfrm>
          <a:prstGeom prst="rect">
            <a:avLst/>
          </a:prstGeom>
          <a:solidFill>
            <a:srgbClr val="1B3358"/>
          </a:solidFill>
          <a:ln w="12700">
            <a:solidFill>
              <a:srgbClr val="1B33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989320" y="1508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</a:rPr>
              <a:t>Por que taxa e não contagem?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89320" y="18105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Países mais populosos teriam vantagem injusta em valores absolutos. A taxa por 100 mil hab. nivela a comparação.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852160" y="2606040"/>
            <a:ext cx="2926080" cy="1005840"/>
          </a:xfrm>
          <a:prstGeom prst="rect">
            <a:avLst/>
          </a:prstGeom>
          <a:solidFill>
            <a:srgbClr val="1B3358"/>
          </a:solidFill>
          <a:ln w="12700">
            <a:solidFill>
              <a:srgbClr val="1B33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98932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EAD4"/>
                </a:solidFill>
              </a:rPr>
              <a:t>Por que média dos 5 anos?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89320" y="29535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Evita que um único ano anormal distorça o ranking. A média representa melhor o padrão do período.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852160" y="3749040"/>
            <a:ext cx="2926080" cy="1005840"/>
          </a:xfrm>
          <a:prstGeom prst="rect">
            <a:avLst/>
          </a:prstGeom>
          <a:solidFill>
            <a:srgbClr val="0F2240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989320" y="3794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</a:rPr>
              <a:t>Resultado principal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989320" y="40965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América Latina e Caribe dominam o ranking, com países da América Central no topo.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PERGUNTA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358"/>
                </a:solidFill>
              </a:rPr>
              <a:t>Homicídios de Mulheres em 2022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Top 10 países + análise de proporção feminina no total de vítimas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393192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463040"/>
            <a:ext cx="3931920" cy="64008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81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358"/>
                </a:solidFill>
              </a:rPr>
              <a:t>Análise 1 — Taxa de Homicídio (Mulheres)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938528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Filtramos por: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• Sex = 'Female'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• Indicator = Intentional Homicide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• Unidade: Taxa por 100 mil hab.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• Ano: 2022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Resultado: países onde a mulher tem maior risco proporcional de ser vítima de homicídio, independente do tamanho da população.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26280" y="1463040"/>
            <a:ext cx="42519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463040"/>
            <a:ext cx="425196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15819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358"/>
                </a:solidFill>
              </a:rPr>
              <a:t>Análise 2 — Proporção Feminina no Total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663440" y="193852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Indo além: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Calculamos a % de vítimas femininas no total de homicídios do país.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63440" y="2514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358"/>
                </a:solidFill>
              </a:rPr>
              <a:t>Isso responde: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663440" y="27889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4748B"/>
                </a:solidFill>
              </a:rPr>
              <a:t>O país tem muitos homicídios no geral?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64748B"/>
                </a:solidFill>
              </a:rPr>
              <a:t>Ou as mulheres são alvos desproporcionais?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3520440"/>
            <a:ext cx="3931920" cy="6400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3630168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Importante: para proporções usamos Counts (valores absolutos), não taxas — pois taxas não podem ser somadas diretamente.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PERGUNTA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358"/>
                </a:solidFill>
              </a:rPr>
              <a:t>Quais Regiões Concentram Mais Homicídios?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Total acumulado histórico de vítimas por grande região geográfica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463040"/>
          <a:ext cx="4572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212080" y="1463040"/>
            <a:ext cx="35661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212080" y="1463040"/>
            <a:ext cx="64008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67528" y="1554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358"/>
                </a:solidFill>
              </a:rPr>
              <a:t>Por que Counts aqui?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367528" y="185623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 pergunta é 'onde ocorrem mais homicídios fisicamente'. Isso requer contagem direta, não taxa proporcional.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212080" y="2606040"/>
            <a:ext cx="35661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212080" y="2606040"/>
            <a:ext cx="64008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67528" y="2697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358"/>
                </a:solidFill>
              </a:rPr>
              <a:t>Agrupamento por Região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67528" y="299923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Usamos .groupby('Region') no df_paises para somar todos os países de cada continente de forma controlada.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212080" y="3749040"/>
            <a:ext cx="35661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212080" y="3749040"/>
            <a:ext cx="64008" cy="1005840"/>
          </a:xfrm>
          <a:prstGeom prst="rect">
            <a:avLst/>
          </a:prstGeom>
          <a:solidFill>
            <a:srgbClr val="1B3358"/>
          </a:solidFill>
          <a:ln w="12700">
            <a:solidFill>
              <a:srgbClr val="1B335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67528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358"/>
                </a:solidFill>
              </a:rPr>
              <a:t>Destaque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367528" y="414223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As Américas lideram o volume total, refletindo a alta violência na América Latina e Caribe.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PERGUNTA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358"/>
                </a:solidFill>
              </a:rPr>
              <a:t>Países com Menor Número de Homicídios por Sub-região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Comparando duas abordagens: soma bruta versus média anual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393192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463040"/>
            <a:ext cx="393192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81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</a:rPr>
              <a:t>⚠  Método 1 — Soma Total (Problemático)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96596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Agrupa por sub-região + país e soma todos os anos.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Problema: um país que reportou dados por apenas 1 ano terá total menor do que um microestado seguro que reportou 20 anos consecutivos.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Resultado: ranking distorcido por inconsistência nos dados históricos.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26280" y="1463040"/>
            <a:ext cx="42519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463040"/>
            <a:ext cx="425196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15819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9488"/>
                </a:solidFill>
              </a:rPr>
              <a:t>✔  Método 2 — Média Anual (Correto)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663440" y="196596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Calcula a média de homicídios por ano para cada país.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Vantagem: nivelar o número de anos reportados por cada país, tornando a comparação justa.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Usamos .idxmin() para encontrar o índice do menor valor em cada sub-região de forma eficiente, depois .loc[] para recuperar os dados completos.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PERGUNTA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358"/>
                </a:solidFill>
              </a:rPr>
              <a:t>Países com Menor Mortalidade Feminina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Identificando os países mais seguros para mulheres com a métrica correta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777240"/>
          </a:xfrm>
          <a:prstGeom prst="rect">
            <a:avLst/>
          </a:prstGeom>
          <a:solidFill>
            <a:srgbClr val="FFF8F0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508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⚠  Armadilha estatística com valores absolutos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Microestados (Mônaco, San Marino...) sempre aparecem no topo com valores absolutos baixíssimos — não por serem mais seguros, mas por ter pouquíssimas mulheres.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2395728"/>
            <a:ext cx="274320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487168"/>
            <a:ext cx="502920" cy="502920"/>
          </a:xfrm>
          <a:prstGeom prst="ellipse">
            <a:avLst/>
          </a:prstGeom>
          <a:solidFill>
            <a:srgbClr val="1B3358"/>
          </a:solidFill>
          <a:ln w="12700">
            <a:solidFill>
              <a:srgbClr val="1B33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063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358"/>
                </a:solidFill>
              </a:rPr>
              <a:t>Use taxa proporcional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Trocar Counts por 'Rate per 100,000 population' elimina o viés demográfico e compara o risco real de uma mulher ser vítima.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91840" y="2395728"/>
            <a:ext cx="274320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2487168"/>
            <a:ext cx="502920" cy="502920"/>
          </a:xfrm>
          <a:prstGeom prst="ellipse">
            <a:avLst/>
          </a:prstGeom>
          <a:solidFill>
            <a:srgbClr val="1B3358"/>
          </a:solidFill>
          <a:ln w="12700">
            <a:solidFill>
              <a:srgbClr val="1B33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3063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358"/>
                </a:solidFill>
              </a:rPr>
              <a:t>Calcule a média histórica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29000" y="347472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Média das taxas ao longo dos anos nivela a cobertura desigual de dados: países com poucos anos reportados não levam vantagem.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395728"/>
            <a:ext cx="274320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55080" y="2487168"/>
            <a:ext cx="502920" cy="502920"/>
          </a:xfrm>
          <a:prstGeom prst="ellipse">
            <a:avLst/>
          </a:prstGeom>
          <a:solidFill>
            <a:srgbClr val="1B3358"/>
          </a:solidFill>
          <a:ln w="12700">
            <a:solidFill>
              <a:srgbClr val="1B33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AD4"/>
                </a:solidFill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55080" y="3063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358"/>
                </a:solidFill>
              </a:rPr>
              <a:t>Resultado confiável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47472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Com taxa média, o ranking reflete países onde o risco proporcional é genuinamente baixo — independente de tamanho populacional ou cobertura histórica.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METODOLOGIA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358"/>
                </a:solidFill>
              </a:rPr>
              <a:t>Decisões Metodológicas do Projeto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25880"/>
            <a:ext cx="54864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3990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358"/>
                </a:solidFill>
              </a:rPr>
              <a:t>Counts ou Taxa?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170992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Taxa por 100 mil hab. para comparações entre países. Counts apenas quando calculamos proporções dentro do mesmo contexto.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32588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325880"/>
            <a:ext cx="54864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3990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358"/>
                </a:solidFill>
              </a:rPr>
              <a:t>Soma ou Média?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937760" y="170992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Média anual sempre que queremos comparar países com históricos de dados de durações diferentes.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56032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560320"/>
            <a:ext cx="54864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6334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358"/>
                </a:solidFill>
              </a:rPr>
              <a:t>df_paises ou df_onu?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294436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df_paises para análises próprias. df_onu para validar com as estimativas regionais oficiais da ONU.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56032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560320"/>
            <a:ext cx="54864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6334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358"/>
                </a:solidFill>
              </a:rPr>
              <a:t>Cópia dos dados?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937760" y="294436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Sim. Trabalhamos sempre em cópias para preservar o dataset original e garantir reprodutibilidade.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79476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794760"/>
            <a:ext cx="54864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8679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358"/>
                </a:solidFill>
              </a:rPr>
              <a:t>Por que 2018–2022?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417880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Últimos 5 anos disponíveis com cobertura global razoável. Anos mais recentes têm dados incompletos.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379476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3794760"/>
            <a:ext cx="54864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8679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358"/>
                </a:solidFill>
              </a:rPr>
              <a:t>Filtros: Total em Age, Sex, Dimension?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37760" y="417880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Para evitar dupla contagem ao somar subcategorias que já estão incluídas no agregado 'Total'.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REGRESSÃO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358"/>
                </a:solidFill>
              </a:rPr>
              <a:t>O que é Regressão?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8412480" cy="777240"/>
          </a:xfrm>
          <a:prstGeom prst="rect">
            <a:avLst/>
          </a:prstGeom>
          <a:solidFill>
            <a:srgbClr val="1B3358"/>
          </a:solidFill>
          <a:ln w="12700">
            <a:solidFill>
              <a:srgbClr val="1B33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32588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EAD4"/>
                </a:solidFill>
              </a:rPr>
              <a:t>y = β₀ + β₁x₁ + β₂x₂ + ... + ε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228600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2286000"/>
            <a:ext cx="54864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59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358"/>
                </a:solidFill>
              </a:rPr>
              <a:t>O que faz?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6700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Encontra a relação matemática entre uma variável que queremos prever (y) e outras variáveis explicativas (x).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228600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2286000"/>
            <a:ext cx="54864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359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358"/>
                </a:solidFill>
              </a:rPr>
              <a:t>Para que serve?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6700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Prever valores futuros, entender quais fatores mais influenciam um fenômeno e quantificar esse impacto.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6616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566160"/>
            <a:ext cx="54864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6393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358"/>
                </a:solidFill>
              </a:rPr>
              <a:t>No nosso projeto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9502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Analisamos se variáveis como região e ano conseguem explicar a variação nas taxas de homicídio.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356616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3566160"/>
            <a:ext cx="54864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36393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358"/>
                </a:solidFill>
              </a:rPr>
              <a:t>Como avaliamos?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39502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R² mede o quanto o modelo explica os dados. Quanto mais próximo de 1, melhor o ajuste do modelo.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3474720"/>
            <a:ext cx="3200400" cy="3200400"/>
          </a:xfrm>
          <a:prstGeom prst="ellipse">
            <a:avLst/>
          </a:prstGeom>
          <a:solidFill>
            <a:srgbClr val="0F2A40"/>
          </a:solidFill>
          <a:ln w="12700">
            <a:solidFill>
              <a:srgbClr val="0F2A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3840480"/>
            <a:ext cx="1828800" cy="182880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Conclusões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32004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5880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96112" y="134416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América Latina concentra os países com maiores taxas de homicídio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984248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984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00253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Taxas proporcionais são a métrica correta para comparar países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42616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42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6112" y="2660904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Médias anuais evitam distorções por cobertura histórica desigual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300984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00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96112" y="331927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Regressão permitirá quantificar o impacto de cada fator nos homicídios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959352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Dados abertos da ONU possibilitam análises globais com Python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4663440"/>
            <a:ext cx="914400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66344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</a:rPr>
              <a:t>Análise Exploratória e Regressão  •  UNODC Intentional Homicide Dataset  •  Python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Exploratória — Homicídios Globais</dc:title>
  <dc:subject>PptxGenJS Presentation</dc:subject>
  <dc:creator>PptxGenJS</dc:creator>
  <cp:lastModifiedBy>PptxGenJS</cp:lastModifiedBy>
  <cp:revision>1</cp:revision>
  <dcterms:created xsi:type="dcterms:W3CDTF">2026-05-27T00:24:16Z</dcterms:created>
  <dcterms:modified xsi:type="dcterms:W3CDTF">2026-05-27T00:24:16Z</dcterms:modified>
</cp:coreProperties>
</file>