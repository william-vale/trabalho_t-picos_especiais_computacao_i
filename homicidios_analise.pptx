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tPsk19GNhzLSTHGj5+va69fsy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Média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El Salvador</c:v>
                  </c:pt>
                  <c:pt idx="1">
                    <c:v>Jamaica</c:v>
                  </c:pt>
                  <c:pt idx="2">
                    <c:v>Honduras</c:v>
                  </c:pt>
                  <c:pt idx="3">
                    <c:v>Venezuela</c:v>
                  </c:pt>
                  <c:pt idx="4">
                    <c:v>St. Kitts</c:v>
                  </c:pt>
                  <c:pt idx="5">
                    <c:v>Trinidad</c:v>
                  </c:pt>
                  <c:pt idx="6">
                    <c:v>South Africa</c:v>
                  </c:pt>
                  <c:pt idx="7">
                    <c:v>Brazil</c:v>
                  </c:pt>
                  <c:pt idx="8">
                    <c:v>Mexico</c:v>
                  </c:pt>
                  <c:pt idx="9">
                    <c:v>Colombia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46.5</c:v>
                </c:pt>
                <c:pt idx="2">
                  <c:v>38.6</c:v>
                </c:pt>
                <c:pt idx="3">
                  <c:v>36.7</c:v>
                </c:pt>
                <c:pt idx="4">
                  <c:v>33.8</c:v>
                </c:pt>
                <c:pt idx="5">
                  <c:v>30.1</c:v>
                </c:pt>
                <c:pt idx="6">
                  <c:v>29.5</c:v>
                </c:pt>
                <c:pt idx="7">
                  <c:v>27.4</c:v>
                </c:pt>
                <c:pt idx="8">
                  <c:v>25.8</c:v>
                </c:pt>
                <c:pt idx="9">
                  <c:v>24.2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Homicídios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B3358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Americas</c:v>
                </c:pt>
                <c:pt idx="1">
                  <c:v>Africa</c:v>
                </c:pt>
                <c:pt idx="2">
                  <c:v>Asia</c:v>
                </c:pt>
                <c:pt idx="3">
                  <c:v>Europe</c:v>
                </c:pt>
                <c:pt idx="4">
                  <c:v>Oceania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28</c:v>
                </c:pt>
                <c:pt idx="2">
                  <c:v>20</c:v>
                </c:pt>
                <c:pt idx="3">
                  <c:v>8</c:v>
                </c:pt>
                <c:pt idx="4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4f00492a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e4f00492a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4f00492a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4f00492a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e4f00492a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e4f00492a7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4f00492a7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e4f00492a7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4f00492a7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4f00492a7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e4f00492a7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e4f00492a7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4f00492a7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e4f00492a7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e4f00492a7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4f00492a7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e4f00492a7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4f00492a7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4f00492a7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e4f00492a7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e4f00492a7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e4f00492a7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e4f00492a7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e4f00492a7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F2A40"/>
          </a:solidFill>
          <a:ln cap="flat" cmpd="sng" w="12700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0D9488">
              <a:alpha val="30196"/>
            </a:srgbClr>
          </a:solidFill>
          <a:ln cap="flat" cmpd="sng" w="12700">
            <a:solidFill>
              <a:srgbClr val="0D9488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ANÁLISE EXPLORATÓRIA E REGRESSÃO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Homicídios Globais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42316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Uma Análise com Dados da ONU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063240"/>
            <a:ext cx="4114800" cy="36576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3246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Fonte: UNODC — United Nations Office on Drugs and Crime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 •  pandas  •  numpy  •  Dados Abertos ONU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De onde vêm os dados?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325880"/>
            <a:ext cx="457200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65760" y="1325880"/>
            <a:ext cx="4572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48640" y="14630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UNODC — Crime and Criminal Justice Statistics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920240"/>
            <a:ext cx="42062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que é: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Base de dados oficial da Organização das Nações Unidas sobre homicídios intencionais em todo o mundo.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que registra: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Quantidade de vítimas e taxa por 100 mil habitantes, separadas por país, região, sexo, faixa etária e ano.</a:t>
            </a:r>
            <a:b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que usar: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É a fonte mais completa e padronizada de dados criminais globais, cobrindo mais de 190 países.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212080" y="1325880"/>
            <a:ext cx="3566160" cy="86868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212080" y="1325880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9496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190+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94960" y="17830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Países cobertos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212080" y="2286000"/>
            <a:ext cx="3566160" cy="86868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212080" y="2286000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394960" y="23774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en-US" sz="22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cad</a:t>
            </a:r>
            <a:r>
              <a:rPr b="1" lang="en-US" sz="22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39496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Série histórica de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212080" y="3246120"/>
            <a:ext cx="3566160" cy="86868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212080" y="3246120"/>
            <a:ext cx="64008" cy="8686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394960" y="33375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2 tabelas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94960" y="3703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Países e Estimativas Regionais ONU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PRÉ-PROCESSAMENTO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Limpeza e Tratamento dos 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128016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65760" y="1280160"/>
            <a:ext cx="54864" cy="1417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30352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①  Padronização da Coluna 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30352" y="173736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Removidos espaços extras e substituído '60 and older' por '60+' para uniformizar os rótulos de faixa etária.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754880" y="128016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754880" y="1280160"/>
            <a:ext cx="54864" cy="1417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4919472" y="1371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②  Correção dos Valores Numéricos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919472" y="173736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coluna VALUE continha vírgulas como separador decimal (ex: '1,5'). Convertida para ponto e depois para tipo numérico com pd.to_numeric().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288036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2880360"/>
            <a:ext cx="54864" cy="1417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30352" y="29718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③  Separação em Dois Datasets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30352" y="333756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df_paises: dados por país (análise própria). df_onu: estimativas regionais da ONU. Cada análise usa a base correta.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754880" y="2880360"/>
            <a:ext cx="41148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754880" y="2880360"/>
            <a:ext cx="54864" cy="1417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919472" y="29718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④  Preservação do Dataset Original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919472" y="333756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Trabalhamos em uma cópia (df_tratado = df_unodc.copy()) para manter o histórico original intacto.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Top 10 Países com Maiores Taxas de Homicídio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Média da taxa por 100 mil habitantes — período 2018 a 2022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4"/>
          <p:cNvGraphicFramePr/>
          <p:nvPr/>
        </p:nvGraphicFramePr>
        <p:xfrm>
          <a:off x="365760" y="1463040"/>
          <a:ext cx="5303520" cy="3383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4" name="Google Shape;84;p4"/>
          <p:cNvSpPr/>
          <p:nvPr/>
        </p:nvSpPr>
        <p:spPr>
          <a:xfrm>
            <a:off x="5852160" y="1463040"/>
            <a:ext cx="2926080" cy="100584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989320" y="1508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Por que taxa e não contagem?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89320" y="181051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Países mais populosos teriam vantagem injusta em valores absolutos. A taxa por 100 mil hab. nivela a comparação.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852160" y="2606040"/>
            <a:ext cx="2926080" cy="100584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989320" y="2651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Por que média dos 5 anos?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989320" y="295351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Evita que um único ano anormal distorça o ranking. A média representa melhor o padrão do período.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852160" y="3749040"/>
            <a:ext cx="2926080" cy="1005840"/>
          </a:xfrm>
          <a:prstGeom prst="rect">
            <a:avLst/>
          </a:prstGeom>
          <a:solidFill>
            <a:srgbClr val="0F2240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989320" y="37947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Resultado principal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89320" y="409651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América Latina e Caribe dominam o ranking, com países da América Central no topo.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Homicídios de Mulheres em 2022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Top 10 países + análise de proporção feminina no total de vítimas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65760" y="1463040"/>
            <a:ext cx="393192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65760" y="1463040"/>
            <a:ext cx="3931920" cy="64008"/>
          </a:xfrm>
          <a:prstGeom prst="rect">
            <a:avLst/>
          </a:prstGeom>
          <a:solidFill>
            <a:srgbClr val="E11D48"/>
          </a:solidFill>
          <a:ln cap="flat" cmpd="sng" w="1270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02920" y="15819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Análise 1 — Taxa de Homicídio (Mulheres)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2920" y="1938528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Filtramos por: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Sexo = Fe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minino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('Female')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Indica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dor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= Intentional Homicide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Unidade: Taxa por 100 mil hab.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Ano: 2022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Resultado: países onde a mulher tem maior risco proporcional de ser vítima de homicídio, independente do tamanho da população.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26280" y="1463040"/>
            <a:ext cx="425196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526280" y="1463040"/>
            <a:ext cx="425196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663440" y="15819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Análise 2 — Proporção Feminina no Total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663440" y="193852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Indo além: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Calculamos a % de vítimas femininas no total de homicídios do país.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663440" y="251460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Isso responde: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663440" y="27889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país tem muitos homicídios no geral?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 as mulheres são alvos desproporcionais?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663440" y="3520440"/>
            <a:ext cx="3931920" cy="6400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663440" y="3630168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Importante: para proporções usamos Counts (valores absolutos), não taxas — pois taxas não podem ser somadas diretamente.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Quais Regiões Concentram Mais Homicídios?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Total acumulado histórico de vítimas por grande região geográfica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6"/>
          <p:cNvGraphicFramePr/>
          <p:nvPr/>
        </p:nvGraphicFramePr>
        <p:xfrm>
          <a:off x="365760" y="1463040"/>
          <a:ext cx="4572000" cy="33832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24" name="Google Shape;124;p6"/>
          <p:cNvSpPr/>
          <p:nvPr/>
        </p:nvSpPr>
        <p:spPr>
          <a:xfrm>
            <a:off x="5212080" y="1463040"/>
            <a:ext cx="35661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212080" y="1463040"/>
            <a:ext cx="64008" cy="10058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5367528" y="1554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Counts aqui?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367528" y="185623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pergunta é 'onde ocorrem mais homicídios fisicamente'. Isso requer contagem direta, não taxa proporcional.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212080" y="2606040"/>
            <a:ext cx="35661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212080" y="2606040"/>
            <a:ext cx="64008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367528" y="2697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Agrupamento por Região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367528" y="299923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Usamos .groupby('Region') no df_paises para somar todos os países de cada continente de forma controlada.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212080" y="3749040"/>
            <a:ext cx="35661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212080" y="3749040"/>
            <a:ext cx="64008" cy="100584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367528" y="38404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Destaque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367528" y="4142232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Américas lideram o volume total, refletindo a alta violência na América Latina e Caribe.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5486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Países com Menor Número de Homicídios por Sub-região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Comparando duas abordagens: soma bruta versus média 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1463040"/>
            <a:ext cx="393192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65760" y="1463040"/>
            <a:ext cx="3931920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02920" y="15819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 Método 1 — Soma Total (Problemático)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1965960"/>
            <a:ext cx="3657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Agrupa por sub-região + país e so</a:t>
            </a: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todos os anos.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Problema: um país que reportou dados por apenas 1 ano terá total menor do que um microestado seguro que reportou 20 anos consecutivos.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Resultado: ranking distorcido por inconsistência nos dados históricos.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26280" y="1463040"/>
            <a:ext cx="4251960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526280" y="1463040"/>
            <a:ext cx="425196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663440" y="15819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✔  Método 2 — Média Anual (Correto)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663440" y="1965960"/>
            <a:ext cx="39319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Calcula a média de homicídios por ano para cada país.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Vantagem: nivelar o número de anos reportados por cada país, tornando a comparação justa.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Usamos .idxmin() para encontrar o índice do menor valor em cada sub-região de forma eficiente, depois .loc[] para recuperar os dados completos.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PERGUNTA 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Países com Menor Mortalidade Feminina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Identificando os países mais seguros para mulheres com a métrica correta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5760" y="1463040"/>
            <a:ext cx="8412480" cy="777240"/>
          </a:xfrm>
          <a:prstGeom prst="rect">
            <a:avLst/>
          </a:prstGeom>
          <a:solidFill>
            <a:srgbClr val="FFF8F0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 Armadilha estatística com valores absolutos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Microestados (Mônaco, San Marino...) sempre aparecem no topo com valores absolutos baixíssimos — não por serem mais seguros, mas por ter pouquíssimas mulheres.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65760" y="2395728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02920" y="2487168"/>
            <a:ext cx="502920" cy="502920"/>
          </a:xfrm>
          <a:prstGeom prst="ellipse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502920" y="2487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02920" y="3063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b="1" lang="en-US" sz="1200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o de</a:t>
            </a: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 taxa proporcional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02920" y="347472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Trocar Counts por 'Rate per 100,000 population' elimina o viés demográfico e compara o risco real de uma mulher ser vítima.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3291840" y="2395728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3429000" y="2487168"/>
            <a:ext cx="502920" cy="502920"/>
          </a:xfrm>
          <a:prstGeom prst="ellipse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429000" y="2487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3429000" y="3063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Calcule a média histórica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429000" y="347472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Média das taxas ao longo dos anos nivela a cobertura desigual de dados: países com poucos anos reportados não levam vantagem.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17920" y="2395728"/>
            <a:ext cx="274320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6355080" y="2487168"/>
            <a:ext cx="502920" cy="502920"/>
          </a:xfrm>
          <a:prstGeom prst="ellipse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6355080" y="24871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355080" y="30632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Resultado confiável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355080" y="3474720"/>
            <a:ext cx="2468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 taxa média, o ranking reflete países onde o risco proporcional é genuinamente baixo — independente de tamanho populacional ou cobertura histórica.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Decisões Metodológicas do Projeto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365760" y="132588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365760" y="132588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48640" y="13990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Counts ou Taxa?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48640" y="1709928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Taxa por 100 mil hab. para comparações entre países. Counts apenas quando calculamos proporções dentro do mesmo contexto.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754880" y="132588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4754880" y="132588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4937760" y="139903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Soma ou Média?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937760" y="1709928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Média anual sempre que queremos comparar países com históricos de dados de durações diferentes.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65760" y="256032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365760" y="256032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48640" y="26334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df_paises ou df_onu?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48640" y="2944368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df_paises para análises próprias. df_onu para validar com as estimativas regionais oficiais da ONU.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754880" y="256032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754880" y="256032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937760" y="263347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Cópia dos dados?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937760" y="2944368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Sim. Trabalhamos sempre em cópias para preservar o dataset original e garantir reprodutibilidade.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65760" y="379476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65760" y="379476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48640" y="38679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2018–2022?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48640" y="4178808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Últimos 5 anos disponíveis com cobertura global razoável. Anos mais recentes têm dados incompletos.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754880" y="379476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754880" y="379476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937760" y="38679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Filtros: Total em Age, Sex, Dimension?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937760" y="4178808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Para evitar dupla contagem ao somar subcategorias que já estão incluídas no agregado 'Total'.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57200" y="2011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O que é Regressão?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y = β₀ + β₁x₁ + β₂x₂ + ... + 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365760" y="228600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65760" y="228600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48640" y="2359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O que faz?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548640" y="267004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Encontra a relação matemática entre uma variável que queremos prever (y) e outras variáveis explicativas (x).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754880" y="228600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937760" y="2359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Para que serve?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937760" y="267004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Prever valores futuros, entender quais fatores mais influenciam um fenômeno e quantificar esse impacto.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365760" y="356616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548640" y="36393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No nosso projeto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48640" y="395020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Analisamos se variáveis como região e ano conseguem explicar a variação nas taxas de homicídio.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754880" y="3566160"/>
            <a:ext cx="41148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754880" y="3566160"/>
            <a:ext cx="54864" cy="1097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937760" y="363931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Como avaliamos?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937760" y="395020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R² mede o quanto o modelo explica os dados. Quanto mais próximo de 1, melhor o ajuste do modelo.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4f00492a7_0_0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e4f00492a7_0_0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4f00492a7_0_0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Definindo o Escopo: Brasil, 2013–2022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e4f00492a7_0_0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Regressão Linear Simples para prever a tendência de homicídios no Brasil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4f00492a7_0_0"/>
          <p:cNvSpPr/>
          <p:nvPr/>
        </p:nvSpPr>
        <p:spPr>
          <a:xfrm>
            <a:off x="365760" y="1463040"/>
            <a:ext cx="4846200" cy="1828800"/>
          </a:xfrm>
          <a:prstGeom prst="rect">
            <a:avLst/>
          </a:prstGeom>
          <a:solidFill>
            <a:srgbClr val="0F2240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4f00492a7_0_0"/>
          <p:cNvSpPr/>
          <p:nvPr/>
        </p:nvSpPr>
        <p:spPr>
          <a:xfrm>
            <a:off x="548640" y="1554480"/>
            <a:ext cx="4572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pais_alvo = 'Brazil'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df_filtrado = df[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(df['Country'] == pais_alvo) &amp;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(df['Sex'] == 'Total') &amp;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(df['Year'] &gt;= 2013) &amp;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(df['Year'] &lt;= 2022)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4f00492a7_0_0"/>
          <p:cNvSpPr/>
          <p:nvPr/>
        </p:nvSpPr>
        <p:spPr>
          <a:xfrm>
            <a:off x="5440680" y="1463040"/>
            <a:ext cx="33375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e4f00492a7_0_0"/>
          <p:cNvSpPr/>
          <p:nvPr/>
        </p:nvSpPr>
        <p:spPr>
          <a:xfrm>
            <a:off x="5440680" y="1463040"/>
            <a:ext cx="54900" cy="86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4f00492a7_0_0"/>
          <p:cNvSpPr/>
          <p:nvPr/>
        </p:nvSpPr>
        <p:spPr>
          <a:xfrm>
            <a:off x="5577840" y="1527048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o Brasil?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e4f00492a7_0_0"/>
          <p:cNvSpPr/>
          <p:nvPr/>
        </p:nvSpPr>
        <p:spPr>
          <a:xfrm>
            <a:off x="5577840" y="1801368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País com alto volume de dados históricos e relevante para análise de tendência de violência na América Latina.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4f00492a7_0_0"/>
          <p:cNvSpPr/>
          <p:nvPr/>
        </p:nvSpPr>
        <p:spPr>
          <a:xfrm>
            <a:off x="5440680" y="2450592"/>
            <a:ext cx="33375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e4f00492a7_0_0"/>
          <p:cNvSpPr/>
          <p:nvPr/>
        </p:nvSpPr>
        <p:spPr>
          <a:xfrm>
            <a:off x="5440680" y="2450592"/>
            <a:ext cx="54900" cy="868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4f00492a7_0_0"/>
          <p:cNvSpPr/>
          <p:nvPr/>
        </p:nvSpPr>
        <p:spPr>
          <a:xfrm>
            <a:off x="5577840" y="2514600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2013–2022?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e4f00492a7_0_0"/>
          <p:cNvSpPr/>
          <p:nvPr/>
        </p:nvSpPr>
        <p:spPr>
          <a:xfrm>
            <a:off x="5577840" y="2788920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Janela de 10 anos: suficiente para capturar tendência real sem incluir anos com dados incompletos ou muito antigos.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4f00492a7_0_0"/>
          <p:cNvSpPr/>
          <p:nvPr/>
        </p:nvSpPr>
        <p:spPr>
          <a:xfrm>
            <a:off x="5440680" y="3438144"/>
            <a:ext cx="3337500" cy="86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4f00492a7_0_0"/>
          <p:cNvSpPr/>
          <p:nvPr/>
        </p:nvSpPr>
        <p:spPr>
          <a:xfrm>
            <a:off x="5440680" y="3438144"/>
            <a:ext cx="54900" cy="86880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e4f00492a7_0_0"/>
          <p:cNvSpPr/>
          <p:nvPr/>
        </p:nvSpPr>
        <p:spPr>
          <a:xfrm>
            <a:off x="5577840" y="3502152"/>
            <a:ext cx="3063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Sex = Total?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e4f00492a7_0_0"/>
          <p:cNvSpPr/>
          <p:nvPr/>
        </p:nvSpPr>
        <p:spPr>
          <a:xfrm>
            <a:off x="5577840" y="3776472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Evita dupla contagem. O filtro Total já agrega todos os gêneros — somar subgrupos infla os valores.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e4f00492a7_0_0"/>
          <p:cNvSpPr/>
          <p:nvPr/>
        </p:nvSpPr>
        <p:spPr>
          <a:xfrm>
            <a:off x="365760" y="3429000"/>
            <a:ext cx="8412600" cy="137160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e4f00492a7_0_0"/>
          <p:cNvSpPr/>
          <p:nvPr/>
        </p:nvSpPr>
        <p:spPr>
          <a:xfrm>
            <a:off x="365760" y="3429000"/>
            <a:ext cx="54900" cy="1371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4f00492a7_0_0"/>
          <p:cNvSpPr/>
          <p:nvPr/>
        </p:nvSpPr>
        <p:spPr>
          <a:xfrm>
            <a:off x="594360" y="3502152"/>
            <a:ext cx="795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Variável explicativa (X) e variável alvo (y)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e4f00492a7_0_0"/>
          <p:cNvSpPr/>
          <p:nvPr/>
        </p:nvSpPr>
        <p:spPr>
          <a:xfrm>
            <a:off x="594360" y="3822192"/>
            <a:ext cx="795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X = Year (ano)   →   variável explicativa: o tempo é o único preditor do modelo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 = VALUE (contagem de homicídios)   →   o que queremos prever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Regressão Linear Simples: y = β₀ + β₁ × Ano + 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4f00492a7_0_28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e4f00492a7_0_28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e4f00492a7_0_28"/>
          <p:cNvSpPr/>
          <p:nvPr/>
        </p:nvSpPr>
        <p:spPr>
          <a:xfrm>
            <a:off x="457200" y="54864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Tratamento dos Dados para Regressão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e4f00492a7_0_28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Três decisões essenciais antes de treinar o modelo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e4f00492a7_0_28"/>
          <p:cNvSpPr/>
          <p:nvPr/>
        </p:nvSpPr>
        <p:spPr>
          <a:xfrm>
            <a:off x="365760" y="1463040"/>
            <a:ext cx="8412600" cy="105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e4f00492a7_0_28"/>
          <p:cNvSpPr/>
          <p:nvPr/>
        </p:nvSpPr>
        <p:spPr>
          <a:xfrm>
            <a:off x="365760" y="1463040"/>
            <a:ext cx="54900" cy="1051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e4f00492a7_0_28"/>
          <p:cNvSpPr/>
          <p:nvPr/>
        </p:nvSpPr>
        <p:spPr>
          <a:xfrm>
            <a:off x="548640" y="1554480"/>
            <a:ext cx="411600" cy="4116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e4f00492a7_0_28"/>
          <p:cNvSpPr/>
          <p:nvPr/>
        </p:nvSpPr>
        <p:spPr>
          <a:xfrm>
            <a:off x="548640" y="15544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e4f00492a7_0_28"/>
          <p:cNvSpPr/>
          <p:nvPr/>
        </p:nvSpPr>
        <p:spPr>
          <a:xfrm>
            <a:off x="1078992" y="15544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Agrupar por Ano — .max()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e4f00492a7_0_28"/>
          <p:cNvSpPr/>
          <p:nvPr/>
        </p:nvSpPr>
        <p:spPr>
          <a:xfrm>
            <a:off x="4206240" y="1536192"/>
            <a:ext cx="2651700" cy="841200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e4f00492a7_0_28"/>
          <p:cNvSpPr/>
          <p:nvPr/>
        </p:nvSpPr>
        <p:spPr>
          <a:xfrm>
            <a:off x="4315968" y="1581912"/>
            <a:ext cx="2469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df_agrupado = df_filtrado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.groupby('Year')['VALUE']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.max().reset_index()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e4f00492a7_0_28"/>
          <p:cNvSpPr/>
          <p:nvPr/>
        </p:nvSpPr>
        <p:spPr>
          <a:xfrm>
            <a:off x="1078992" y="1847088"/>
            <a:ext cx="3017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 que .max() e não .sum() ou .mean()? O dataset tem múltiplas linhas por ano (por dimensão, categoria, mecanismo). Somar duplicaria os valores. O máximo captura o maior valor agregado reportado para aquele ano — o dado mais representativo do total.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e4f00492a7_0_28"/>
          <p:cNvSpPr/>
          <p:nvPr/>
        </p:nvSpPr>
        <p:spPr>
          <a:xfrm>
            <a:off x="365760" y="2624328"/>
            <a:ext cx="8412600" cy="105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e4f00492a7_0_28"/>
          <p:cNvSpPr/>
          <p:nvPr/>
        </p:nvSpPr>
        <p:spPr>
          <a:xfrm>
            <a:off x="365760" y="2624328"/>
            <a:ext cx="54900" cy="1051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e4f00492a7_0_28"/>
          <p:cNvSpPr/>
          <p:nvPr/>
        </p:nvSpPr>
        <p:spPr>
          <a:xfrm>
            <a:off x="548640" y="2715768"/>
            <a:ext cx="411600" cy="4116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e4f00492a7_0_28"/>
          <p:cNvSpPr/>
          <p:nvPr/>
        </p:nvSpPr>
        <p:spPr>
          <a:xfrm>
            <a:off x="548640" y="2715768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4f00492a7_0_28"/>
          <p:cNvSpPr/>
          <p:nvPr/>
        </p:nvSpPr>
        <p:spPr>
          <a:xfrm>
            <a:off x="1078992" y="2715768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Tratar Zeros — .replace(0, NaN)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4f00492a7_0_28"/>
          <p:cNvSpPr/>
          <p:nvPr/>
        </p:nvSpPr>
        <p:spPr>
          <a:xfrm>
            <a:off x="4206240" y="2697480"/>
            <a:ext cx="2651700" cy="841200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4f00492a7_0_28"/>
          <p:cNvSpPr/>
          <p:nvPr/>
        </p:nvSpPr>
        <p:spPr>
          <a:xfrm>
            <a:off x="4315968" y="2743200"/>
            <a:ext cx="2469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df_agrupado['VALUE'] =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df_agrupado['VALUE']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.replace(0, np.nan)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4f00492a7_0_28"/>
          <p:cNvSpPr/>
          <p:nvPr/>
        </p:nvSpPr>
        <p:spPr>
          <a:xfrm>
            <a:off x="1078992" y="3008376"/>
            <a:ext cx="3017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Valor zero em homicídios não significa ausência de crime — significa dado não reportado ou erro na coleta. Incluir zeros no treino distorceria a linha de regressão, puxando a tendência artificialmente para baixo.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4f00492a7_0_28"/>
          <p:cNvSpPr/>
          <p:nvPr/>
        </p:nvSpPr>
        <p:spPr>
          <a:xfrm>
            <a:off x="365760" y="3785616"/>
            <a:ext cx="8412600" cy="1051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e4f00492a7_0_28"/>
          <p:cNvSpPr/>
          <p:nvPr/>
        </p:nvSpPr>
        <p:spPr>
          <a:xfrm>
            <a:off x="365760" y="3785616"/>
            <a:ext cx="54900" cy="105150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4f00492a7_0_28"/>
          <p:cNvSpPr/>
          <p:nvPr/>
        </p:nvSpPr>
        <p:spPr>
          <a:xfrm>
            <a:off x="548640" y="3877056"/>
            <a:ext cx="411600" cy="411600"/>
          </a:xfrm>
          <a:prstGeom prst="ellipse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4f00492a7_0_28"/>
          <p:cNvSpPr/>
          <p:nvPr/>
        </p:nvSpPr>
        <p:spPr>
          <a:xfrm>
            <a:off x="548640" y="3877056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e4f00492a7_0_28"/>
          <p:cNvSpPr/>
          <p:nvPr/>
        </p:nvSpPr>
        <p:spPr>
          <a:xfrm>
            <a:off x="1078992" y="3877056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Preencher Lacunas — .interpolate()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e4f00492a7_0_28"/>
          <p:cNvSpPr/>
          <p:nvPr/>
        </p:nvSpPr>
        <p:spPr>
          <a:xfrm>
            <a:off x="4206240" y="3858768"/>
            <a:ext cx="2651700" cy="841200"/>
          </a:xfrm>
          <a:prstGeom prst="rect">
            <a:avLst/>
          </a:prstGeom>
          <a:solidFill>
            <a:srgbClr val="0F2240"/>
          </a:solidFill>
          <a:ln cap="flat" cmpd="sng" w="9525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4f00492a7_0_28"/>
          <p:cNvSpPr/>
          <p:nvPr/>
        </p:nvSpPr>
        <p:spPr>
          <a:xfrm>
            <a:off x="4315968" y="3904488"/>
            <a:ext cx="24690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df_agrupado['VALUE'] =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df_agrupado['VALUE']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.interpolate()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4f00492a7_0_28"/>
          <p:cNvSpPr/>
          <p:nvPr/>
        </p:nvSpPr>
        <p:spPr>
          <a:xfrm>
            <a:off x="1078992" y="4169664"/>
            <a:ext cx="3017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Após substituir zeros por NaN, usamos interpolação linear para estimar o valor faltante com base nos anos vizinhos. Isso preserva a continuidade da série temporal sem remover linhas — essencial quando temos poucos pontos (10 anos).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e4f00492a7_0_62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e4f00492a7_0_62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4f00492a7_0_62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Treinamento do Modelo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4f00492a7_0_62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LinearRegression do scikit-learn — X = Ano, y = Contagem de homicídios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g3e4f00492a7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63040"/>
            <a:ext cx="5120700" cy="33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e4f00492a7_0_62"/>
          <p:cNvSpPr/>
          <p:nvPr/>
        </p:nvSpPr>
        <p:spPr>
          <a:xfrm>
            <a:off x="5669280" y="1463040"/>
            <a:ext cx="3108900" cy="155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4f00492a7_0_62"/>
          <p:cNvSpPr/>
          <p:nvPr/>
        </p:nvSpPr>
        <p:spPr>
          <a:xfrm>
            <a:off x="5669280" y="1463040"/>
            <a:ext cx="54900" cy="1554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e4f00492a7_0_62"/>
          <p:cNvSpPr/>
          <p:nvPr/>
        </p:nvSpPr>
        <p:spPr>
          <a:xfrm>
            <a:off x="5815584" y="155448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Como treinar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e4f00492a7_0_62"/>
          <p:cNvSpPr/>
          <p:nvPr/>
        </p:nvSpPr>
        <p:spPr>
          <a:xfrm>
            <a:off x="5815584" y="1865376"/>
            <a:ext cx="2834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modelo = LinearRegression()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modelo.fit(X, y)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O modelo ajusta β₀ e β₁ minimizando o erro quadrático total entre os valores reais e os previstos.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e4f00492a7_0_62"/>
          <p:cNvSpPr/>
          <p:nvPr/>
        </p:nvSpPr>
        <p:spPr>
          <a:xfrm>
            <a:off x="5669280" y="3182112"/>
            <a:ext cx="3108900" cy="155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e4f00492a7_0_62"/>
          <p:cNvSpPr/>
          <p:nvPr/>
        </p:nvSpPr>
        <p:spPr>
          <a:xfrm>
            <a:off x="5669280" y="3182112"/>
            <a:ext cx="54900" cy="1554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4f00492a7_0_62"/>
          <p:cNvSpPr/>
          <p:nvPr/>
        </p:nvSpPr>
        <p:spPr>
          <a:xfrm>
            <a:off x="5815584" y="327355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Métrica: MSE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4f00492a7_0_62"/>
          <p:cNvSpPr/>
          <p:nvPr/>
        </p:nvSpPr>
        <p:spPr>
          <a:xfrm>
            <a:off x="5815584" y="3584448"/>
            <a:ext cx="2834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Mean Squared Error — Erro Quadrático Médio.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mse = mean_squared_error(y, previsoes)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Mede o quanto as previsões do modelo se distanciam dos valores reais. Quanto menor, melhor.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4f00492a7_0_81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4f00492a7_0_81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e4f00492a7_0_81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Previsões para 2023–2026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e4f00492a7_0_81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Extrapolando a tendência histórica para os próximos anos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g3e4f00492a7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63040"/>
            <a:ext cx="5486400" cy="33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e4f00492a7_0_81"/>
          <p:cNvSpPr/>
          <p:nvPr/>
        </p:nvSpPr>
        <p:spPr>
          <a:xfrm>
            <a:off x="6035040" y="1463040"/>
            <a:ext cx="2743200" cy="1371600"/>
          </a:xfrm>
          <a:prstGeom prst="rect">
            <a:avLst/>
          </a:prstGeom>
          <a:solidFill>
            <a:srgbClr val="0F2240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e4f00492a7_0_81"/>
          <p:cNvSpPr/>
          <p:nvPr/>
        </p:nvSpPr>
        <p:spPr>
          <a:xfrm>
            <a:off x="6172200" y="1536192"/>
            <a:ext cx="2514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anos_futuros = [2023,2024,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2025,2026]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dados = pd.DataFrame(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{'Year': anos_futuros})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previsoes = modelo.predict(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dados)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e4f00492a7_0_81"/>
          <p:cNvSpPr/>
          <p:nvPr/>
        </p:nvSpPr>
        <p:spPr>
          <a:xfrm>
            <a:off x="6035040" y="2999232"/>
            <a:ext cx="2743200" cy="85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4f00492a7_0_81"/>
          <p:cNvSpPr/>
          <p:nvPr/>
        </p:nvSpPr>
        <p:spPr>
          <a:xfrm>
            <a:off x="6035040" y="2999232"/>
            <a:ext cx="54900" cy="850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e4f00492a7_0_81"/>
          <p:cNvSpPr/>
          <p:nvPr/>
        </p:nvSpPr>
        <p:spPr>
          <a:xfrm>
            <a:off x="6181344" y="3063240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Como funciona o .predict()?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e4f00492a7_0_81"/>
          <p:cNvSpPr/>
          <p:nvPr/>
        </p:nvSpPr>
        <p:spPr>
          <a:xfrm>
            <a:off x="6181344" y="334670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modelo aplica a equação aprendida (β₀ + β₁ × Ano) sobre os anos futuros. Cada ano gera uma previsão de homicídios.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e4f00492a7_0_81"/>
          <p:cNvSpPr/>
          <p:nvPr/>
        </p:nvSpPr>
        <p:spPr>
          <a:xfrm>
            <a:off x="6035040" y="3959352"/>
            <a:ext cx="2743200" cy="85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e4f00492a7_0_81"/>
          <p:cNvSpPr/>
          <p:nvPr/>
        </p:nvSpPr>
        <p:spPr>
          <a:xfrm>
            <a:off x="6035040" y="3959352"/>
            <a:ext cx="54900" cy="850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4f00492a7_0_81"/>
          <p:cNvSpPr/>
          <p:nvPr/>
        </p:nvSpPr>
        <p:spPr>
          <a:xfrm>
            <a:off x="6181344" y="4023360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Limitação importante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e4f00492a7_0_81"/>
          <p:cNvSpPr/>
          <p:nvPr/>
        </p:nvSpPr>
        <p:spPr>
          <a:xfrm>
            <a:off x="6181344" y="4306824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regressão linear assume que a tendência passada continuará. Eventos externos (políticas, crises) podem quebrar essa tendência.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4f00492a7_0_102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e4f00492a7_0_102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e4f00492a7_0_102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Configuração do Modelo Preditivo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e4f00492a7_0_102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Prevendo o número de homicídios no Brasil com base no histórico de 2013 a 2022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e4f00492a7_0_102"/>
          <p:cNvSpPr/>
          <p:nvPr/>
        </p:nvSpPr>
        <p:spPr>
          <a:xfrm>
            <a:off x="365760" y="1463040"/>
            <a:ext cx="4023300" cy="3383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4f00492a7_0_102"/>
          <p:cNvSpPr/>
          <p:nvPr/>
        </p:nvSpPr>
        <p:spPr>
          <a:xfrm>
            <a:off x="365760" y="1463040"/>
            <a:ext cx="4023300" cy="63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e4f00492a7_0_102"/>
          <p:cNvSpPr/>
          <p:nvPr/>
        </p:nvSpPr>
        <p:spPr>
          <a:xfrm>
            <a:off x="530352" y="1581912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Definições da análise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e4f00492a7_0_102"/>
          <p:cNvSpPr/>
          <p:nvPr/>
        </p:nvSpPr>
        <p:spPr>
          <a:xfrm>
            <a:off x="502920" y="2011680"/>
            <a:ext cx="3749100" cy="347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e4f00492a7_0_102"/>
          <p:cNvSpPr/>
          <p:nvPr/>
        </p:nvSpPr>
        <p:spPr>
          <a:xfrm>
            <a:off x="594360" y="2057400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País analisado: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e4f00492a7_0_102"/>
          <p:cNvSpPr/>
          <p:nvPr/>
        </p:nvSpPr>
        <p:spPr>
          <a:xfrm>
            <a:off x="2286000" y="205740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Brasil (Brazil)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e4f00492a7_0_102"/>
          <p:cNvSpPr/>
          <p:nvPr/>
        </p:nvSpPr>
        <p:spPr>
          <a:xfrm>
            <a:off x="502920" y="2450592"/>
            <a:ext cx="3749100" cy="3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e4f00492a7_0_102"/>
          <p:cNvSpPr/>
          <p:nvPr/>
        </p:nvSpPr>
        <p:spPr>
          <a:xfrm>
            <a:off x="594360" y="2496312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Período: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e4f00492a7_0_102"/>
          <p:cNvSpPr/>
          <p:nvPr/>
        </p:nvSpPr>
        <p:spPr>
          <a:xfrm>
            <a:off x="2286000" y="2496312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2013 a 2022 (10 anos)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e4f00492a7_0_102"/>
          <p:cNvSpPr/>
          <p:nvPr/>
        </p:nvSpPr>
        <p:spPr>
          <a:xfrm>
            <a:off x="502920" y="2889504"/>
            <a:ext cx="3749100" cy="347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4f00492a7_0_102"/>
          <p:cNvSpPr/>
          <p:nvPr/>
        </p:nvSpPr>
        <p:spPr>
          <a:xfrm>
            <a:off x="594360" y="2935224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Variável alvo (y):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e4f00492a7_0_102"/>
          <p:cNvSpPr/>
          <p:nvPr/>
        </p:nvSpPr>
        <p:spPr>
          <a:xfrm>
            <a:off x="2286000" y="2935224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VALUE — nº de homicídios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e4f00492a7_0_102"/>
          <p:cNvSpPr/>
          <p:nvPr/>
        </p:nvSpPr>
        <p:spPr>
          <a:xfrm>
            <a:off x="502920" y="3328416"/>
            <a:ext cx="3749100" cy="3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e4f00492a7_0_102"/>
          <p:cNvSpPr/>
          <p:nvPr/>
        </p:nvSpPr>
        <p:spPr>
          <a:xfrm>
            <a:off x="594360" y="3374136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Variável preditora (X):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e4f00492a7_0_102"/>
          <p:cNvSpPr/>
          <p:nvPr/>
        </p:nvSpPr>
        <p:spPr>
          <a:xfrm>
            <a:off x="2286000" y="3374136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Year — ano do registro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e4f00492a7_0_102"/>
          <p:cNvSpPr/>
          <p:nvPr/>
        </p:nvSpPr>
        <p:spPr>
          <a:xfrm>
            <a:off x="502920" y="3767328"/>
            <a:ext cx="3749100" cy="347400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e4f00492a7_0_102"/>
          <p:cNvSpPr/>
          <p:nvPr/>
        </p:nvSpPr>
        <p:spPr>
          <a:xfrm>
            <a:off x="594360" y="3813048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Filtro de sexo: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e4f00492a7_0_102"/>
          <p:cNvSpPr/>
          <p:nvPr/>
        </p:nvSpPr>
        <p:spPr>
          <a:xfrm>
            <a:off x="2286000" y="381304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Total (homens + mulheres)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e4f00492a7_0_102"/>
          <p:cNvSpPr/>
          <p:nvPr/>
        </p:nvSpPr>
        <p:spPr>
          <a:xfrm>
            <a:off x="502920" y="4206240"/>
            <a:ext cx="3749100" cy="347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e4f00492a7_0_102"/>
          <p:cNvSpPr/>
          <p:nvPr/>
        </p:nvSpPr>
        <p:spPr>
          <a:xfrm>
            <a:off x="594360" y="4251960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Tipo de modelo: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e4f00492a7_0_102"/>
          <p:cNvSpPr/>
          <p:nvPr/>
        </p:nvSpPr>
        <p:spPr>
          <a:xfrm>
            <a:off x="2286000" y="4251960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Regressão Linear Simples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e4f00492a7_0_102"/>
          <p:cNvSpPr/>
          <p:nvPr/>
        </p:nvSpPr>
        <p:spPr>
          <a:xfrm>
            <a:off x="4663440" y="1463040"/>
            <a:ext cx="4114800" cy="10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4f00492a7_0_102"/>
          <p:cNvSpPr/>
          <p:nvPr/>
        </p:nvSpPr>
        <p:spPr>
          <a:xfrm>
            <a:off x="4663440" y="1463040"/>
            <a:ext cx="63900" cy="100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e4f00492a7_0_102"/>
          <p:cNvSpPr/>
          <p:nvPr/>
        </p:nvSpPr>
        <p:spPr>
          <a:xfrm>
            <a:off x="4818888" y="155448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o Brasil?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e4f00492a7_0_102"/>
          <p:cNvSpPr/>
          <p:nvPr/>
        </p:nvSpPr>
        <p:spPr>
          <a:xfrm>
            <a:off x="4818888" y="1856232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Brasil está entre os países com maiores taxas de homicídio do mundo, com dados históricos consistentes reportados à ONU — ideal para treinar um modelo preditivo.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e4f00492a7_0_102"/>
          <p:cNvSpPr/>
          <p:nvPr/>
        </p:nvSpPr>
        <p:spPr>
          <a:xfrm>
            <a:off x="4663440" y="2606040"/>
            <a:ext cx="4114800" cy="10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e4f00492a7_0_102"/>
          <p:cNvSpPr/>
          <p:nvPr/>
        </p:nvSpPr>
        <p:spPr>
          <a:xfrm>
            <a:off x="4663440" y="2606040"/>
            <a:ext cx="63900" cy="100590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e4f00492a7_0_102"/>
          <p:cNvSpPr/>
          <p:nvPr/>
        </p:nvSpPr>
        <p:spPr>
          <a:xfrm>
            <a:off x="4818888" y="269748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Year como X?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3e4f00492a7_0_102"/>
          <p:cNvSpPr/>
          <p:nvPr/>
        </p:nvSpPr>
        <p:spPr>
          <a:xfrm>
            <a:off x="4818888" y="2999232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ano captura a tendência temporal dos homicídios. A regressão identifica se os números estão crescendo, caindo ou estáveis ao longo do tempo.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e4f00492a7_0_102"/>
          <p:cNvSpPr/>
          <p:nvPr/>
        </p:nvSpPr>
        <p:spPr>
          <a:xfrm>
            <a:off x="4663440" y="3749040"/>
            <a:ext cx="4114800" cy="1005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4f00492a7_0_102"/>
          <p:cNvSpPr/>
          <p:nvPr/>
        </p:nvSpPr>
        <p:spPr>
          <a:xfrm>
            <a:off x="4663440" y="3749040"/>
            <a:ext cx="63900" cy="10059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e4f00492a7_0_102"/>
          <p:cNvSpPr/>
          <p:nvPr/>
        </p:nvSpPr>
        <p:spPr>
          <a:xfrm>
            <a:off x="4818888" y="384048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Por que Regressão Linear?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e4f00492a7_0_102"/>
          <p:cNvSpPr/>
          <p:nvPr/>
        </p:nvSpPr>
        <p:spPr>
          <a:xfrm>
            <a:off x="4818888" y="4142232"/>
            <a:ext cx="3749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Modelo interpretável e direto. Com apenas uma variável preditora (Year), a regressão linear é suficiente para capturar a tendência histórica e gerar previsões futuras.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4f00492a7_0_145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e4f00492a7_0_145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e4f00492a7_0_145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Tratamento dos Dados e Treinamento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e4f00492a7_0_145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Decisões técnicas tomadas antes de treinar o modelo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e4f00492a7_0_145"/>
          <p:cNvSpPr/>
          <p:nvPr/>
        </p:nvSpPr>
        <p:spPr>
          <a:xfrm>
            <a:off x="365760" y="1463040"/>
            <a:ext cx="4114800" cy="155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4f00492a7_0_145"/>
          <p:cNvSpPr/>
          <p:nvPr/>
        </p:nvSpPr>
        <p:spPr>
          <a:xfrm>
            <a:off x="530352" y="1600200"/>
            <a:ext cx="438900" cy="438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4f00492a7_0_145"/>
          <p:cNvSpPr/>
          <p:nvPr/>
        </p:nvSpPr>
        <p:spPr>
          <a:xfrm>
            <a:off x="530352" y="16002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e4f00492a7_0_145"/>
          <p:cNvSpPr/>
          <p:nvPr/>
        </p:nvSpPr>
        <p:spPr>
          <a:xfrm>
            <a:off x="1078992" y="164592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Agrupamento por 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e4f00492a7_0_145"/>
          <p:cNvSpPr/>
          <p:nvPr/>
        </p:nvSpPr>
        <p:spPr>
          <a:xfrm>
            <a:off x="530352" y="2148840"/>
            <a:ext cx="3794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groupby('Year')['VALUE'].max()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Agrupamos os dados por ano e extraímos o valor MÁXIMO. Isso captura o pico real de homicídios registrado em cada ano, evitando que subcategorias sobrepostas reduzam artificialmente o valor.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e4f00492a7_0_145"/>
          <p:cNvSpPr/>
          <p:nvPr/>
        </p:nvSpPr>
        <p:spPr>
          <a:xfrm>
            <a:off x="4754880" y="1463040"/>
            <a:ext cx="4114800" cy="155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4f00492a7_0_145"/>
          <p:cNvSpPr/>
          <p:nvPr/>
        </p:nvSpPr>
        <p:spPr>
          <a:xfrm>
            <a:off x="4919472" y="1600200"/>
            <a:ext cx="438900" cy="4389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4f00492a7_0_145"/>
          <p:cNvSpPr/>
          <p:nvPr/>
        </p:nvSpPr>
        <p:spPr>
          <a:xfrm>
            <a:off x="4919472" y="160020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e4f00492a7_0_145"/>
          <p:cNvSpPr/>
          <p:nvPr/>
        </p:nvSpPr>
        <p:spPr>
          <a:xfrm>
            <a:off x="5468112" y="164592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Tratamento de Zeros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e4f00492a7_0_145"/>
          <p:cNvSpPr/>
          <p:nvPr/>
        </p:nvSpPr>
        <p:spPr>
          <a:xfrm>
            <a:off x="4919472" y="2148840"/>
            <a:ext cx="3794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replace(0, np.nan) → interpolate()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Anos com valor 0 indicam dado ausente ou falha no reporte — não que não houve homicídios. Substituímos por NaN e usamos interpolação linear para estimar o valor esperado com base nos anos vizinhos.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e4f00492a7_0_145"/>
          <p:cNvSpPr/>
          <p:nvPr/>
        </p:nvSpPr>
        <p:spPr>
          <a:xfrm>
            <a:off x="365760" y="3154680"/>
            <a:ext cx="4114800" cy="155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e4f00492a7_0_145"/>
          <p:cNvSpPr/>
          <p:nvPr/>
        </p:nvSpPr>
        <p:spPr>
          <a:xfrm>
            <a:off x="530352" y="3291840"/>
            <a:ext cx="438900" cy="438900"/>
          </a:xfrm>
          <a:prstGeom prst="ellipse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e4f00492a7_0_145"/>
          <p:cNvSpPr/>
          <p:nvPr/>
        </p:nvSpPr>
        <p:spPr>
          <a:xfrm>
            <a:off x="530352" y="329184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e4f00492a7_0_145"/>
          <p:cNvSpPr/>
          <p:nvPr/>
        </p:nvSpPr>
        <p:spPr>
          <a:xfrm>
            <a:off x="1078992" y="333756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Treinamento do Modelo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e4f00492a7_0_145"/>
          <p:cNvSpPr/>
          <p:nvPr/>
        </p:nvSpPr>
        <p:spPr>
          <a:xfrm>
            <a:off x="530352" y="3840480"/>
            <a:ext cx="3794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LinearRegression().fit(X, 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 = coluna Year (variável preditora)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 = coluna VALUE (número de homicídios)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modelo ajusta uma reta aos dados históricos, encontrando a relação linear entre o ano e o número de homicídios.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e4f00492a7_0_145"/>
          <p:cNvSpPr/>
          <p:nvPr/>
        </p:nvSpPr>
        <p:spPr>
          <a:xfrm>
            <a:off x="4754880" y="3154680"/>
            <a:ext cx="4114800" cy="155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e4f00492a7_0_145"/>
          <p:cNvSpPr/>
          <p:nvPr/>
        </p:nvSpPr>
        <p:spPr>
          <a:xfrm>
            <a:off x="4919472" y="3291840"/>
            <a:ext cx="438900" cy="438900"/>
          </a:xfrm>
          <a:prstGeom prst="ellipse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4f00492a7_0_145"/>
          <p:cNvSpPr/>
          <p:nvPr/>
        </p:nvSpPr>
        <p:spPr>
          <a:xfrm>
            <a:off x="4919472" y="329184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e4f00492a7_0_145"/>
          <p:cNvSpPr/>
          <p:nvPr/>
        </p:nvSpPr>
        <p:spPr>
          <a:xfrm>
            <a:off x="5468112" y="3337560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Avaliação com MSE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e4f00492a7_0_145"/>
          <p:cNvSpPr/>
          <p:nvPr/>
        </p:nvSpPr>
        <p:spPr>
          <a:xfrm>
            <a:off x="4919472" y="3840480"/>
            <a:ext cx="3794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mean_squared_error(y, previsoes_treino)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MSE (Erro Quadrático Médio) mede o quanto as previsões do modelo diferem dos valores reais. Quanto menor o MSE, mais preciso o ajuste da reta aos dados históricos.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e4f00492a7_0_175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4f00492a7_0_175"/>
          <p:cNvSpPr/>
          <p:nvPr/>
        </p:nvSpPr>
        <p:spPr>
          <a:xfrm>
            <a:off x="457200" y="201168"/>
            <a:ext cx="146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4f00492a7_0_175"/>
          <p:cNvSpPr/>
          <p:nvPr/>
        </p:nvSpPr>
        <p:spPr>
          <a:xfrm>
            <a:off x="457200" y="54864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Previsões para 2023–2026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e4f00492a7_0_175"/>
          <p:cNvSpPr/>
          <p:nvPr/>
        </p:nvSpPr>
        <p:spPr>
          <a:xfrm>
            <a:off x="457200" y="11155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modelo treinado projeta a tendência histórica do Brasil para anos futuros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6" name="Google Shape;416;g3e4f00492a7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63040"/>
            <a:ext cx="5120700" cy="32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g3e4f00492a7_0_175"/>
          <p:cNvSpPr/>
          <p:nvPr/>
        </p:nvSpPr>
        <p:spPr>
          <a:xfrm>
            <a:off x="5715000" y="1463040"/>
            <a:ext cx="306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35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3358"/>
                </a:solidFill>
                <a:latin typeface="Calibri"/>
                <a:ea typeface="Calibri"/>
                <a:cs typeface="Calibri"/>
                <a:sym typeface="Calibri"/>
              </a:rPr>
              <a:t>Saída do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e4f00492a7_0_175"/>
          <p:cNvSpPr/>
          <p:nvPr/>
        </p:nvSpPr>
        <p:spPr>
          <a:xfrm>
            <a:off x="5715000" y="1828800"/>
            <a:ext cx="3063300" cy="56700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e4f00492a7_0_175"/>
          <p:cNvSpPr/>
          <p:nvPr/>
        </p:nvSpPr>
        <p:spPr>
          <a:xfrm>
            <a:off x="5715000" y="1828800"/>
            <a:ext cx="63900" cy="567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e4f00492a7_0_175"/>
          <p:cNvSpPr/>
          <p:nvPr/>
        </p:nvSpPr>
        <p:spPr>
          <a:xfrm>
            <a:off x="5870448" y="1883664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Ano 2023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e4f00492a7_0_175"/>
          <p:cNvSpPr/>
          <p:nvPr/>
        </p:nvSpPr>
        <p:spPr>
          <a:xfrm>
            <a:off x="5870448" y="2103120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  modelo.predict([[2023]])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e4f00492a7_0_175"/>
          <p:cNvSpPr/>
          <p:nvPr/>
        </p:nvSpPr>
        <p:spPr>
          <a:xfrm>
            <a:off x="5715000" y="2514600"/>
            <a:ext cx="3063300" cy="567000"/>
          </a:xfrm>
          <a:prstGeom prst="rect">
            <a:avLst/>
          </a:prstGeom>
          <a:solidFill>
            <a:srgbClr val="1B3358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4f00492a7_0_175"/>
          <p:cNvSpPr/>
          <p:nvPr/>
        </p:nvSpPr>
        <p:spPr>
          <a:xfrm>
            <a:off x="5715000" y="2514600"/>
            <a:ext cx="63900" cy="567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4f00492a7_0_175"/>
          <p:cNvSpPr/>
          <p:nvPr/>
        </p:nvSpPr>
        <p:spPr>
          <a:xfrm>
            <a:off x="5870448" y="2569464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Ano 2024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e4f00492a7_0_175"/>
          <p:cNvSpPr/>
          <p:nvPr/>
        </p:nvSpPr>
        <p:spPr>
          <a:xfrm>
            <a:off x="5870448" y="2788920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  modelo.predict([[2024]])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e4f00492a7_0_175"/>
          <p:cNvSpPr/>
          <p:nvPr/>
        </p:nvSpPr>
        <p:spPr>
          <a:xfrm>
            <a:off x="5715000" y="3200400"/>
            <a:ext cx="3063300" cy="567000"/>
          </a:xfrm>
          <a:prstGeom prst="rect">
            <a:avLst/>
          </a:prstGeom>
          <a:solidFill>
            <a:srgbClr val="0F2A40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e4f00492a7_0_175"/>
          <p:cNvSpPr/>
          <p:nvPr/>
        </p:nvSpPr>
        <p:spPr>
          <a:xfrm>
            <a:off x="5715000" y="3200400"/>
            <a:ext cx="63900" cy="567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e4f00492a7_0_175"/>
          <p:cNvSpPr/>
          <p:nvPr/>
        </p:nvSpPr>
        <p:spPr>
          <a:xfrm>
            <a:off x="5870448" y="3255264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Ano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e4f00492a7_0_175"/>
          <p:cNvSpPr/>
          <p:nvPr/>
        </p:nvSpPr>
        <p:spPr>
          <a:xfrm>
            <a:off x="5870448" y="3474720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  modelo.predict([[2025]])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e4f00492a7_0_175"/>
          <p:cNvSpPr/>
          <p:nvPr/>
        </p:nvSpPr>
        <p:spPr>
          <a:xfrm>
            <a:off x="5715000" y="3886200"/>
            <a:ext cx="3063300" cy="567000"/>
          </a:xfrm>
          <a:prstGeom prst="rect">
            <a:avLst/>
          </a:prstGeom>
          <a:solidFill>
            <a:srgbClr val="0F2A40"/>
          </a:solidFill>
          <a:ln cap="flat" cmpd="sng" w="12700">
            <a:solidFill>
              <a:srgbClr val="1B335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e4f00492a7_0_175"/>
          <p:cNvSpPr/>
          <p:nvPr/>
        </p:nvSpPr>
        <p:spPr>
          <a:xfrm>
            <a:off x="5715000" y="3886200"/>
            <a:ext cx="63900" cy="567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4f00492a7_0_175"/>
          <p:cNvSpPr/>
          <p:nvPr/>
        </p:nvSpPr>
        <p:spPr>
          <a:xfrm>
            <a:off x="5870448" y="3941064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Ano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e4f00492a7_0_175"/>
          <p:cNvSpPr/>
          <p:nvPr/>
        </p:nvSpPr>
        <p:spPr>
          <a:xfrm>
            <a:off x="5870448" y="4160520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→  modelo.predict([[2026]])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e4f00492a7_0_175"/>
          <p:cNvSpPr/>
          <p:nvPr/>
        </p:nvSpPr>
        <p:spPr>
          <a:xfrm>
            <a:off x="5715000" y="3794760"/>
            <a:ext cx="3063300" cy="7497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e4f00492a7_0_175"/>
          <p:cNvSpPr/>
          <p:nvPr/>
        </p:nvSpPr>
        <p:spPr>
          <a:xfrm>
            <a:off x="5852160" y="3858768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Como interpretar?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4f00492a7_0_175"/>
          <p:cNvSpPr/>
          <p:nvPr/>
        </p:nvSpPr>
        <p:spPr>
          <a:xfrm>
            <a:off x="5852160" y="4133088"/>
            <a:ext cx="28347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previsão é o ponto na reta ajustada pelo modelo para aquele ano. A tendência histórica é extrapolada de forma linear.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40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4f00492a7_0_206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F2A40"/>
          </a:solidFill>
          <a:ln cap="flat" cmpd="sng" w="12700">
            <a:solidFill>
              <a:srgbClr val="0F2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4f00492a7_0_206"/>
          <p:cNvSpPr/>
          <p:nvPr/>
        </p:nvSpPr>
        <p:spPr>
          <a:xfrm>
            <a:off x="7772400" y="3840480"/>
            <a:ext cx="1828800" cy="182880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e4f00492a7_0_206"/>
          <p:cNvSpPr/>
          <p:nvPr/>
        </p:nvSpPr>
        <p:spPr>
          <a:xfrm>
            <a:off x="457200" y="411480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e4f00492a7_0_206"/>
          <p:cNvSpPr/>
          <p:nvPr/>
        </p:nvSpPr>
        <p:spPr>
          <a:xfrm>
            <a:off x="457200" y="1115568"/>
            <a:ext cx="3200400" cy="45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e4f00492a7_0_206"/>
          <p:cNvSpPr/>
          <p:nvPr/>
        </p:nvSpPr>
        <p:spPr>
          <a:xfrm>
            <a:off x="457200" y="1325875"/>
            <a:ext cx="292500" cy="2367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e4f00492a7_0_206"/>
          <p:cNvSpPr/>
          <p:nvPr/>
        </p:nvSpPr>
        <p:spPr>
          <a:xfrm>
            <a:off x="457200" y="1325875"/>
            <a:ext cx="292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4f00492a7_0_206"/>
          <p:cNvSpPr/>
          <p:nvPr/>
        </p:nvSpPr>
        <p:spPr>
          <a:xfrm>
            <a:off x="896111" y="1340672"/>
            <a:ext cx="6217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América Latina concentra os países com maiores taxas de homicídio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e4f00492a7_0_206"/>
          <p:cNvSpPr/>
          <p:nvPr/>
        </p:nvSpPr>
        <p:spPr>
          <a:xfrm>
            <a:off x="457200" y="1858562"/>
            <a:ext cx="292500" cy="2367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e4f00492a7_0_206"/>
          <p:cNvSpPr/>
          <p:nvPr/>
        </p:nvSpPr>
        <p:spPr>
          <a:xfrm>
            <a:off x="457200" y="1858562"/>
            <a:ext cx="292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4f00492a7_0_206"/>
          <p:cNvSpPr/>
          <p:nvPr/>
        </p:nvSpPr>
        <p:spPr>
          <a:xfrm>
            <a:off x="896111" y="1873359"/>
            <a:ext cx="6217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Taxas proporcionais são a métrica correta para comparar países entre si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4f00492a7_0_206"/>
          <p:cNvSpPr/>
          <p:nvPr/>
        </p:nvSpPr>
        <p:spPr>
          <a:xfrm>
            <a:off x="457200" y="2391250"/>
            <a:ext cx="292500" cy="2367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e4f00492a7_0_206"/>
          <p:cNvSpPr/>
          <p:nvPr/>
        </p:nvSpPr>
        <p:spPr>
          <a:xfrm>
            <a:off x="457200" y="2391250"/>
            <a:ext cx="292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4f00492a7_0_206"/>
          <p:cNvSpPr/>
          <p:nvPr/>
        </p:nvSpPr>
        <p:spPr>
          <a:xfrm>
            <a:off x="896111" y="2406046"/>
            <a:ext cx="6217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Médias anuais evitam distorções por cobertura histórica desigual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4f00492a7_0_206"/>
          <p:cNvSpPr/>
          <p:nvPr/>
        </p:nvSpPr>
        <p:spPr>
          <a:xfrm>
            <a:off x="457200" y="2923937"/>
            <a:ext cx="292500" cy="2367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e4f00492a7_0_206"/>
          <p:cNvSpPr/>
          <p:nvPr/>
        </p:nvSpPr>
        <p:spPr>
          <a:xfrm>
            <a:off x="457200" y="2923937"/>
            <a:ext cx="292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e4f00492a7_0_206"/>
          <p:cNvSpPr/>
          <p:nvPr/>
        </p:nvSpPr>
        <p:spPr>
          <a:xfrm>
            <a:off x="896111" y="2938734"/>
            <a:ext cx="6217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Regressão Linear capturou a tendência histórica de homicídios no Brasil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e4f00492a7_0_206"/>
          <p:cNvSpPr/>
          <p:nvPr/>
        </p:nvSpPr>
        <p:spPr>
          <a:xfrm>
            <a:off x="457200" y="3456624"/>
            <a:ext cx="292500" cy="2367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e4f00492a7_0_206"/>
          <p:cNvSpPr/>
          <p:nvPr/>
        </p:nvSpPr>
        <p:spPr>
          <a:xfrm>
            <a:off x="457200" y="3456624"/>
            <a:ext cx="292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4f00492a7_0_206"/>
          <p:cNvSpPr/>
          <p:nvPr/>
        </p:nvSpPr>
        <p:spPr>
          <a:xfrm>
            <a:off x="896111" y="3471421"/>
            <a:ext cx="6217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 modelo gerou previsões para 2023–2026 com base em 10 anos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4f00492a7_0_206"/>
          <p:cNvSpPr/>
          <p:nvPr/>
        </p:nvSpPr>
        <p:spPr>
          <a:xfrm>
            <a:off x="457200" y="3989311"/>
            <a:ext cx="292500" cy="2367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e4f00492a7_0_206"/>
          <p:cNvSpPr/>
          <p:nvPr/>
        </p:nvSpPr>
        <p:spPr>
          <a:xfrm>
            <a:off x="457200" y="3989311"/>
            <a:ext cx="292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e4f00492a7_0_206"/>
          <p:cNvSpPr/>
          <p:nvPr/>
        </p:nvSpPr>
        <p:spPr>
          <a:xfrm>
            <a:off x="896111" y="4004108"/>
            <a:ext cx="6217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Dados abertos da ONU possibilitam análises globais completas com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e4f00492a7_0_206"/>
          <p:cNvSpPr/>
          <p:nvPr/>
        </p:nvSpPr>
        <p:spPr>
          <a:xfrm>
            <a:off x="0" y="4663440"/>
            <a:ext cx="9144000" cy="475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e4f00492a7_0_206"/>
          <p:cNvSpPr/>
          <p:nvPr/>
        </p:nvSpPr>
        <p:spPr>
          <a:xfrm>
            <a:off x="274320" y="4663440"/>
            <a:ext cx="8595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Análise Exploratória e Regressão  •  UNODC Intentional Homicide Dataset  • 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2026-05-27T00:24:16Z</dcterms:created>
  <dc:creator>PptxGenJS</dc:creator>
</cp:coreProperties>
</file>